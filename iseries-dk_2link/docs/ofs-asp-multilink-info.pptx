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81" r:id="rId2"/>
    <p:sldId id="2147376591" r:id="rId3"/>
    <p:sldId id="2147376608" r:id="rId4"/>
    <p:sldId id="2147376603" r:id="rId5"/>
    <p:sldId id="2147376604" r:id="rId6"/>
    <p:sldId id="2147376607" r:id="rId7"/>
    <p:sldId id="2147376605" r:id="rId8"/>
    <p:sldId id="2147376606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79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144" y="5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4F3915-C706-7F2A-4FF6-2CDC1DF4A8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C1E63B-B86B-91A0-506D-B40AB1E0F8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1D5BFA-24B9-E837-DC1F-F4E975413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75746-E790-4A0C-AFAA-72E0767BC452}" type="datetimeFigureOut">
              <a:rPr lang="en-US" smtClean="0"/>
              <a:t>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9153D2-2E7E-67EC-0698-C916C76BF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F0EB23-DD68-1D14-38C6-2A2B1E499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D201C-D079-43B5-8209-F3782FBC16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706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8E893A-7CD0-E7AF-AC74-E0A9F3124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6D1DD6-C72E-BA15-7787-F994688896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39FB4F-C6F6-4ADE-D8E9-F6468AD33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75746-E790-4A0C-AFAA-72E0767BC452}" type="datetimeFigureOut">
              <a:rPr lang="en-US" smtClean="0"/>
              <a:t>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3BEC6B-4BE4-7B93-9B33-7457F3758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AF4B69-9A6C-EF26-19B5-13BF440E3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D201C-D079-43B5-8209-F3782FBC16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5933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46C59-0FBF-957D-A21D-FE093635B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FBEC03-8C89-8BC6-0AA0-54ACAA00D0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7036E1-73B6-43E4-00E0-1084F288ED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75746-E790-4A0C-AFAA-72E0767BC452}" type="datetimeFigureOut">
              <a:rPr lang="en-US" smtClean="0"/>
              <a:t>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887337-EC39-9F42-5D09-ECD23939E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6FCAA7-9F42-E099-28C5-2CAB3E7A8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D201C-D079-43B5-8209-F3782FBC16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2878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A9940-C031-6D1D-EDE3-A5B3BC6F1C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C3739B-FB7D-7D02-CB52-F2FDCB063C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0DC58A-2729-97D7-13F3-D739C75795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BA0CAA-47F7-B2C2-82FD-2E52D6CC55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75746-E790-4A0C-AFAA-72E0767BC452}" type="datetimeFigureOut">
              <a:rPr lang="en-US" smtClean="0"/>
              <a:t>1/29/2025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F7FED3-0BA9-58CB-0BB0-229D74F9E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93E1BA-8D63-4D50-1628-D8BF77D0C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D201C-D079-43B5-8209-F3782FBC16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9162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A25EA-68E1-7DE7-4DD2-D69D1F7A0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A90DFD-8B35-55DD-D2C2-27FB4DC98C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647F3F-F92C-F8AE-9A24-A12E67FDE1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D0A497-AB30-73D3-AB1A-BEC71753C5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832C799-4A75-E6CE-16F1-D11433F5B2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CB3BDE-6285-78AD-FE02-66367B93D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75746-E790-4A0C-AFAA-72E0767BC452}" type="datetimeFigureOut">
              <a:rPr lang="en-US" smtClean="0"/>
              <a:t>1/29/2025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1BEA63-7003-1C42-E39D-1EE7503B6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DA84C85-2AA2-C0B9-4225-4BA9549EC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D201C-D079-43B5-8209-F3782FBC16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2221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69CCB-B29E-5D32-59E2-F17F162E5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087D54-CCE3-1C15-2861-B3C59F60A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75746-E790-4A0C-AFAA-72E0767BC452}" type="datetimeFigureOut">
              <a:rPr lang="en-US" smtClean="0"/>
              <a:t>1/29/2025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CDC1C3-7D38-00C6-4413-C8B0F61EF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A2ADD4-112E-A156-2CD0-00C143C1C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D201C-D079-43B5-8209-F3782FBC16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5069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46CDA9-5A34-B3BD-4E6D-6197A96E3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75746-E790-4A0C-AFAA-72E0767BC452}" type="datetimeFigureOut">
              <a:rPr lang="en-US" smtClean="0"/>
              <a:t>1/29/2025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C14433F-11CF-8D00-C715-C4169C7C4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0FE892-1B40-85E3-D2FB-00524E1CC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D201C-D079-43B5-8209-F3782FBC16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5917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86EB50-A3E9-2723-C5EA-6E78A1A46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98EEAB-57FC-4614-D8C5-D4148D4898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EEE829-108A-4594-16C7-9104FB02EA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5BFEA5-EEA4-7EEA-8EC9-74053F4B3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75746-E790-4A0C-AFAA-72E0767BC452}" type="datetimeFigureOut">
              <a:rPr lang="en-US" smtClean="0"/>
              <a:t>1/29/2025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0C162-3191-DDC6-693D-37CEFD852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1D64D7-FC78-8BAA-53E0-7B3698B3A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D201C-D079-43B5-8209-F3782FBC16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1205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07303-F24D-CD2C-6982-452C34AE9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83B6AA4-D2BE-E9E7-23B0-FF6F4BA815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4B5C16-5655-9706-DA32-DDC275C2C9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0B8BBC-7417-B3D3-F5AC-AD01CB09E9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75746-E790-4A0C-AFAA-72E0767BC452}" type="datetimeFigureOut">
              <a:rPr lang="en-US" smtClean="0"/>
              <a:t>1/29/2025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10A073-D778-D0C2-D286-956195359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B18196-0395-8504-8594-03426767E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D201C-D079-43B5-8209-F3782FBC16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2863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6A2DF-6177-CC45-3F96-C7402CC07D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61189D-B518-5E3A-8E27-18E11307ED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49B99D-B2D9-5CD0-0218-8A1D9187F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75746-E790-4A0C-AFAA-72E0767BC452}" type="datetimeFigureOut">
              <a:rPr lang="en-US" smtClean="0"/>
              <a:t>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330E04-54B1-2414-AAE3-508451B6D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AB15B-D7C0-17C6-2BAF-9FE841181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D201C-D079-43B5-8209-F3782FBC16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2947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CC7DFB2-B181-F2C0-406A-0D06099F9C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337B27-A1F4-8F10-700B-06E81AD731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6B09A6-59B8-AB5D-5CE7-64BA094047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75746-E790-4A0C-AFAA-72E0767BC452}" type="datetimeFigureOut">
              <a:rPr lang="en-US" smtClean="0"/>
              <a:t>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D12143-2651-91B7-E03D-467F2E55F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E68859-AB45-0A95-58FC-7151CE5F9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D201C-D079-43B5-8209-F3782FBC16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7890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Image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89039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38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 b="0" i="0">
                <a:latin typeface="GT Walsheim Regular" pitchFamily="2" charset="77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83" name="Click to edit title style"/>
          <p:cNvSpPr txBox="1">
            <a:spLocks noGrp="1"/>
          </p:cNvSpPr>
          <p:nvPr>
            <p:ph type="title" hasCustomPrompt="1"/>
          </p:nvPr>
        </p:nvSpPr>
        <p:spPr>
          <a:xfrm>
            <a:off x="613772" y="235550"/>
            <a:ext cx="10972093" cy="1199823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latin typeface="GT Walsheim Regular" pitchFamily="2" charset="77"/>
                <a:ea typeface="GT Walsheim Regular" pitchFamily="2" charset="77"/>
                <a:cs typeface="GT Walsheim Regular" pitchFamily="2" charset="77"/>
                <a:sym typeface="GTWalsheim-Regular"/>
              </a:defRPr>
            </a:lvl1pPr>
          </a:lstStyle>
          <a:p>
            <a:r>
              <a:t>Click to edit title style</a:t>
            </a:r>
          </a:p>
        </p:txBody>
      </p:sp>
      <p:sp>
        <p:nvSpPr>
          <p:cNvPr id="384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614364" y="1510206"/>
            <a:ext cx="10971212" cy="470535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latin typeface="GT Walsheim Regular" pitchFamily="2" charset="77"/>
                <a:ea typeface="GT Walsheim Regular" pitchFamily="2" charset="77"/>
                <a:cs typeface="GT Walsheim Regular" pitchFamily="2" charset="77"/>
                <a:sym typeface="GTWalsheim-Regular"/>
              </a:defRPr>
            </a:lvl1pPr>
            <a:lvl2pPr>
              <a:defRPr>
                <a:latin typeface="GT Walsheim Regular" pitchFamily="2" charset="77"/>
                <a:ea typeface="GT Walsheim Regular" pitchFamily="2" charset="77"/>
                <a:cs typeface="GT Walsheim Regular" pitchFamily="2" charset="77"/>
                <a:sym typeface="GTWalsheim-Regular"/>
              </a:defRPr>
            </a:lvl2pPr>
            <a:lvl3pPr>
              <a:defRPr>
                <a:latin typeface="GT Walsheim Regular" pitchFamily="2" charset="77"/>
                <a:ea typeface="GT Walsheim Regular" pitchFamily="2" charset="77"/>
                <a:cs typeface="GT Walsheim Regular" pitchFamily="2" charset="77"/>
                <a:sym typeface="GTWalsheim-Regular"/>
              </a:defRPr>
            </a:lvl3pPr>
            <a:lvl4pPr>
              <a:defRPr>
                <a:latin typeface="GT Walsheim Regular" pitchFamily="2" charset="77"/>
                <a:ea typeface="GT Walsheim Regular" pitchFamily="2" charset="77"/>
                <a:cs typeface="GT Walsheim Regular" pitchFamily="2" charset="77"/>
                <a:sym typeface="GTWalsheim-Regular"/>
              </a:defRPr>
            </a:lvl4pPr>
            <a:lvl5pPr>
              <a:defRPr>
                <a:latin typeface="GT Walsheim Regular" pitchFamily="2" charset="77"/>
                <a:ea typeface="GT Walsheim Regular" pitchFamily="2" charset="77"/>
                <a:cs typeface="GT Walsheim Regular" pitchFamily="2" charset="77"/>
                <a:sym typeface="GTWalsheim-Regular"/>
              </a:defRPr>
            </a:lvl5pPr>
          </a:lstStyle>
          <a:p>
            <a:r>
              <a:t>Click to edit text styles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94005B0-D268-247B-75E6-CF34CEC8A96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9196" y="6437339"/>
            <a:ext cx="719075" cy="293707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F6F9351-6891-EADF-6B26-593D0CB999A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>
                <a:latin typeface="GT Walsheim Regular" pitchFamily="2" charset="77"/>
              </a:rPr>
              <a:t>Programmable Software and Solutions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D412CF-085F-57AD-730B-127DB599A3ED}"/>
              </a:ext>
            </a:extLst>
          </p:cNvPr>
          <p:cNvSpPr txBox="1"/>
          <p:nvPr userDrawn="1"/>
        </p:nvSpPr>
        <p:spPr>
          <a:xfrm>
            <a:off x="10233785" y="6397322"/>
            <a:ext cx="1432804" cy="376932"/>
          </a:xfrm>
          <a:prstGeom prst="rect">
            <a:avLst/>
          </a:prstGeom>
          <a:noFill/>
          <a:ln w="254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91439" tIns="91439" rIns="91439" bIns="91439" numCol="1" spcCol="38100" rtlCol="0" anchor="ctr">
            <a:noAutofit/>
          </a:bodyPr>
          <a:lstStyle/>
          <a:p>
            <a:pPr marL="0" marR="0" indent="0" algn="r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000" b="0" i="0" u="none" strike="noStrike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+mn-ea"/>
                <a:cs typeface="+mn-cs"/>
                <a:sym typeface="IntelOne Text"/>
              </a:rPr>
              <a:t>Altera Confidential</a:t>
            </a:r>
          </a:p>
        </p:txBody>
      </p:sp>
    </p:spTree>
    <p:extLst>
      <p:ext uri="{BB962C8B-B14F-4D97-AF65-F5344CB8AC3E}">
        <p14:creationId xmlns:p14="http://schemas.microsoft.com/office/powerpoint/2010/main" val="2747822342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Logo Light 1"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Image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481" y="-1"/>
            <a:ext cx="12189040" cy="6858002"/>
          </a:xfrm>
          <a:prstGeom prst="rect">
            <a:avLst/>
          </a:prstGeom>
          <a:ln w="12700">
            <a:miter lim="400000"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D6CE894-2746-BF2C-91DD-BF28FD7A28A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004503" y="1755885"/>
            <a:ext cx="6210986" cy="2539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7801138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DC25CBB-6678-222D-C6B8-21DD44460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81F1BC-9D27-0A2B-385D-F9208AA1DD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54B56E-B760-D7BA-AAAD-9CA249242E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775746-E790-4A0C-AFAA-72E0767BC452}" type="datetimeFigureOut">
              <a:rPr lang="en-US" smtClean="0"/>
              <a:t>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C91A62-3BF6-7A87-35B7-38335677F2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B414BF-A63B-5368-060A-82807E3A45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BD201C-D079-43B5-8209-F3782FBC16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2342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2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OFS/examples-afu/tree/main/tutorial/afu_types/04_multi_link" TargetMode="Externa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DouglasGroen/oneapi-asp/tree/2link_docs/iseries-dk_2link/docs/oneAPI-samples/boardtest" TargetMode="Externa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6D8EF212-CC9E-217B-605A-4FDE118940E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589" y="4270376"/>
            <a:ext cx="10685463" cy="822325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en-US" dirty="0"/>
              <a:t>OFS ASP – Multi-Link Support</a:t>
            </a:r>
            <a:br>
              <a:rPr lang="en-US" dirty="0"/>
            </a:br>
            <a:r>
              <a:rPr lang="en-US" sz="1800" dirty="0"/>
              <a:t>Douglas Groen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F0ACAD-9E4A-F420-AFAD-4AF2CB94CC5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2050713" y="6507164"/>
            <a:ext cx="139700" cy="153987"/>
          </a:xfrm>
        </p:spPr>
        <p:txBody>
          <a:bodyPr/>
          <a:lstStyle/>
          <a:p>
            <a:fld id="{86CB4B4D-7CA3-9044-876B-883B54F8677D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945494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E194D2C-0894-3F53-4E8C-13D1642E101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220788" y="234950"/>
            <a:ext cx="10971212" cy="1200150"/>
          </a:xfrm>
        </p:spPr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F07501-5EFD-0FF1-F187-D8E068B1E3B1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1220788" y="1509713"/>
            <a:ext cx="10971212" cy="4705350"/>
          </a:xfrm>
        </p:spPr>
        <p:txBody>
          <a:bodyPr/>
          <a:lstStyle/>
          <a:p>
            <a:r>
              <a:rPr lang="en-US" sz="2400" dirty="0"/>
              <a:t>Increasing PCIe link speeds led the FIM to implement 2 separate interfaces to the AFU</a:t>
            </a:r>
          </a:p>
          <a:p>
            <a:pPr lvl="1"/>
            <a:r>
              <a:rPr lang="en-US" dirty="0"/>
              <a:t>Physical interfaces: 2 x Gen5x8 instead of 1 x Gen5x16</a:t>
            </a:r>
          </a:p>
          <a:p>
            <a:pPr lvl="1"/>
            <a:r>
              <a:rPr lang="en-US" dirty="0"/>
              <a:t>On-chip interfaces: 2 x 512 bit @ 500 MHz instead of either 1 x 1024 bit @ 500 MHz or 1 x 512 bit @ 1GHz</a:t>
            </a:r>
          </a:p>
          <a:p>
            <a:r>
              <a:rPr lang="en-US" sz="2400" dirty="0"/>
              <a:t>OPAE supports this already, and there are example RTL designs here: </a:t>
            </a:r>
          </a:p>
          <a:p>
            <a:pPr lvl="1"/>
            <a:r>
              <a:rPr lang="en-US" sz="1800" dirty="0">
                <a:latin typeface="Calibri" panose="020F0502020204030204" pitchFamily="34" charset="0"/>
                <a:hlinkClick r:id="rId2"/>
              </a:rPr>
              <a:t>https://github.com/OFS/examples-afu/tree/main/tutorial/afu_types/04_multi_link</a:t>
            </a:r>
            <a:endParaRPr lang="en-US" dirty="0"/>
          </a:p>
          <a:p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334400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E7D09-71EA-727C-91BB-9713473B6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4851CBA-3B05-5A7A-D1F6-FEDC9D8BDC3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220788" y="234950"/>
            <a:ext cx="10971212" cy="1200150"/>
          </a:xfrm>
        </p:spPr>
        <p:txBody>
          <a:bodyPr/>
          <a:lstStyle/>
          <a:p>
            <a:r>
              <a:rPr lang="en-US" dirty="0"/>
              <a:t>Goals for ASP Support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008508-7BC5-7C16-065F-DBC09916502E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0" y="1509713"/>
            <a:ext cx="10609263" cy="3749675"/>
          </a:xfrm>
        </p:spPr>
        <p:txBody>
          <a:bodyPr/>
          <a:lstStyle/>
          <a:p>
            <a:r>
              <a:rPr lang="en-US" sz="2400" dirty="0"/>
              <a:t>Minimize changes to ASP mmd software</a:t>
            </a:r>
          </a:p>
          <a:p>
            <a:pPr lvl="1"/>
            <a:r>
              <a:rPr lang="en-US" dirty="0"/>
              <a:t>None were required – mmd doesn’t know how many links exist</a:t>
            </a:r>
          </a:p>
          <a:p>
            <a:r>
              <a:rPr lang="en-US" sz="2400" dirty="0"/>
              <a:t>DMA controller must leverage both links</a:t>
            </a:r>
          </a:p>
          <a:p>
            <a:pPr lvl="1"/>
            <a:r>
              <a:rPr lang="en-US" dirty="0"/>
              <a:t>Autonomously split a transfer across both links</a:t>
            </a:r>
          </a:p>
          <a:p>
            <a:r>
              <a:rPr lang="en-US" sz="2400" dirty="0"/>
              <a:t>USM / kernel must leverage both links</a:t>
            </a:r>
          </a:p>
          <a:p>
            <a:pPr lvl="1"/>
            <a:r>
              <a:rPr lang="en-US" dirty="0"/>
              <a:t>Explicit access of two ‘</a:t>
            </a:r>
            <a:r>
              <a:rPr lang="en-US" dirty="0" err="1"/>
              <a:t>global_mem</a:t>
            </a:r>
            <a:r>
              <a:rPr lang="en-US" dirty="0"/>
              <a:t>’ interfaces</a:t>
            </a:r>
          </a:p>
          <a:p>
            <a:r>
              <a:rPr lang="en-US" sz="2400" dirty="0"/>
              <a:t>Share as many VTP resources as possible</a:t>
            </a:r>
          </a:p>
          <a:p>
            <a:pPr lvl="1"/>
            <a:r>
              <a:rPr lang="en-US" dirty="0"/>
              <a:t>Same address-space on the host, no need to duplicate all VTP resources</a:t>
            </a:r>
          </a:p>
        </p:txBody>
      </p:sp>
    </p:spTree>
    <p:extLst>
      <p:ext uri="{BB962C8B-B14F-4D97-AF65-F5344CB8AC3E}">
        <p14:creationId xmlns:p14="http://schemas.microsoft.com/office/powerpoint/2010/main" val="32616665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59959D-93E7-4F5B-454A-AE254725D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7FF1011-0A8B-D2DE-5C7A-B91B4DCF62A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220788" y="234950"/>
            <a:ext cx="10971212" cy="1200150"/>
          </a:xfrm>
        </p:spPr>
        <p:txBody>
          <a:bodyPr/>
          <a:lstStyle/>
          <a:p>
            <a:r>
              <a:rPr lang="en-US" dirty="0"/>
              <a:t>High-Level ASP Changes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0C87B4-D736-2FAB-F3EF-A74C0D1E8628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0" y="2063750"/>
            <a:ext cx="10609263" cy="3195638"/>
          </a:xfrm>
        </p:spPr>
        <p:txBody>
          <a:bodyPr/>
          <a:lstStyle/>
          <a:p>
            <a:r>
              <a:rPr lang="en-US" sz="2400" dirty="0"/>
              <a:t>New board variant at the top level of the repo</a:t>
            </a:r>
          </a:p>
          <a:p>
            <a:r>
              <a:rPr lang="en-US" sz="2400" dirty="0"/>
              <a:t>Arrays of </a:t>
            </a:r>
            <a:r>
              <a:rPr lang="en-US" sz="2400" dirty="0" err="1"/>
              <a:t>SystemVerilog</a:t>
            </a:r>
            <a:r>
              <a:rPr lang="en-US" sz="2400" dirty="0"/>
              <a:t> interfaces to enable parameterization</a:t>
            </a:r>
          </a:p>
          <a:p>
            <a:r>
              <a:rPr lang="en-US" sz="2400" dirty="0"/>
              <a:t>Replication of module instances using </a:t>
            </a:r>
            <a:r>
              <a:rPr lang="en-US" sz="2400" b="1" dirty="0"/>
              <a:t>generate</a:t>
            </a:r>
          </a:p>
          <a:p>
            <a:r>
              <a:rPr lang="en-US" sz="2400" dirty="0"/>
              <a:t>New `defines to enable changes to the kernel-system’s port-list</a:t>
            </a:r>
          </a:p>
          <a:p>
            <a:r>
              <a:rPr lang="en-US" sz="2400" dirty="0"/>
              <a:t>Updates to board_spec.xml for the USM variant</a:t>
            </a:r>
          </a:p>
          <a:p>
            <a:pPr lvl="1"/>
            <a:r>
              <a:rPr lang="en-US" dirty="0"/>
              <a:t>new </a:t>
            </a:r>
            <a:r>
              <a:rPr lang="en-US" dirty="0" err="1"/>
              <a:t>global_mem</a:t>
            </a:r>
            <a:r>
              <a:rPr lang="en-US" dirty="0"/>
              <a:t> interface for 2</a:t>
            </a:r>
            <a:r>
              <a:rPr lang="en-US" baseline="30000" dirty="0"/>
              <a:t>nd</a:t>
            </a:r>
            <a:r>
              <a:rPr lang="en-US" dirty="0"/>
              <a:t> USM channel</a:t>
            </a:r>
          </a:p>
          <a:p>
            <a:pPr lvl="1"/>
            <a:r>
              <a:rPr lang="en-US" dirty="0"/>
              <a:t>address-range updates for the DDR interfaces</a:t>
            </a:r>
          </a:p>
        </p:txBody>
      </p:sp>
    </p:spTree>
    <p:extLst>
      <p:ext uri="{BB962C8B-B14F-4D97-AF65-F5344CB8AC3E}">
        <p14:creationId xmlns:p14="http://schemas.microsoft.com/office/powerpoint/2010/main" val="33262479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F0FA57-9FDF-0054-B25B-BB8FC3E935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7ACA4D1-175E-0FCC-C969-80F6C8D1877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220788" y="234950"/>
            <a:ext cx="10971212" cy="1200150"/>
          </a:xfrm>
        </p:spPr>
        <p:txBody>
          <a:bodyPr/>
          <a:lstStyle/>
          <a:p>
            <a:r>
              <a:rPr lang="en-US" dirty="0"/>
              <a:t>Changes to DMA Controller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511D9D-29F6-611B-F7F6-FFC49E21A195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0" y="1509713"/>
            <a:ext cx="10625138" cy="4016375"/>
          </a:xfrm>
        </p:spPr>
        <p:txBody>
          <a:bodyPr/>
          <a:lstStyle/>
          <a:p>
            <a:r>
              <a:rPr lang="en-US" sz="2400" dirty="0"/>
              <a:t>No changes needed in mmd – the same 3 registers are used to define a DMA transfer: source address, destination address, transfer length</a:t>
            </a:r>
          </a:p>
          <a:p>
            <a:r>
              <a:rPr lang="en-US" sz="2400" dirty="0"/>
              <a:t>DMA ‘dispatcher’ module changes</a:t>
            </a:r>
          </a:p>
          <a:p>
            <a:pPr lvl="1"/>
            <a:r>
              <a:rPr lang="en-US" dirty="0"/>
              <a:t>Logic to split a DMA transaction into 2 halves</a:t>
            </a:r>
          </a:p>
          <a:p>
            <a:pPr lvl="1"/>
            <a:r>
              <a:rPr lang="en-US" dirty="0"/>
              <a:t>Logic to detect transfer completion and send IRQ or message to mmd</a:t>
            </a:r>
          </a:p>
          <a:p>
            <a:r>
              <a:rPr lang="en-US" sz="2400" dirty="0"/>
              <a:t>DMA ‘data-transfer’ modules are duplicated to support each half of the total transaction</a:t>
            </a:r>
          </a:p>
          <a:p>
            <a:r>
              <a:rPr lang="en-US" sz="2400" dirty="0"/>
              <a:t>MMIO transactions occur only on the parent PCIe link</a:t>
            </a:r>
          </a:p>
          <a:p>
            <a:pPr lvl="1"/>
            <a:r>
              <a:rPr lang="en-US" dirty="0"/>
              <a:t>DFH reading, status/control registers, H2F IRQ, F2H ‘magic number’, </a:t>
            </a:r>
            <a:r>
              <a:rPr lang="en-US" dirty="0" err="1"/>
              <a:t>etc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16978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0420FD-F349-D1CC-334B-898711657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4DA91A7-80B2-8A5B-C709-08D5C80451F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220788" y="234950"/>
            <a:ext cx="10971212" cy="1200150"/>
          </a:xfrm>
        </p:spPr>
        <p:txBody>
          <a:bodyPr/>
          <a:lstStyle/>
          <a:p>
            <a:r>
              <a:rPr lang="en-US" dirty="0"/>
              <a:t>Changes to USM Channels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65750C-BBB6-7731-4AB6-162B5CF1B4D4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0" y="1509713"/>
            <a:ext cx="10625138" cy="3749675"/>
          </a:xfrm>
        </p:spPr>
        <p:txBody>
          <a:bodyPr/>
          <a:lstStyle/>
          <a:p>
            <a:r>
              <a:rPr lang="en-US" sz="2400" dirty="0"/>
              <a:t>Duplicate RTL paths for USM[0] and USM[1] from the kernel-system, through pipeline bridges, to VTP translation blocks</a:t>
            </a:r>
          </a:p>
          <a:p>
            <a:r>
              <a:rPr lang="en-US" sz="2400" dirty="0"/>
              <a:t>The USM test within </a:t>
            </a:r>
            <a:r>
              <a:rPr lang="en-US" sz="2400" dirty="0" err="1"/>
              <a:t>boardtest</a:t>
            </a:r>
            <a:r>
              <a:rPr lang="en-US" sz="2400" dirty="0"/>
              <a:t> was modified to explicitly leverage both channels</a:t>
            </a:r>
          </a:p>
          <a:p>
            <a:pPr lvl="1"/>
            <a:r>
              <a:rPr lang="en-US" dirty="0">
                <a:hlinkClick r:id="rId2"/>
              </a:rPr>
              <a:t>https://github.com/DouglasGroen/oneapi-asp/tree/2link_docs/iseries-dk_2link/docs/oneAPI-samples/boardtest</a:t>
            </a:r>
            <a:endParaRPr lang="en-US" dirty="0"/>
          </a:p>
          <a:p>
            <a:pPr lvl="1"/>
            <a:r>
              <a:rPr lang="en-US" sz="2400" dirty="0"/>
              <a:t>No complicated changes to the ASP for this – mainly duplication of code (in </a:t>
            </a:r>
            <a:r>
              <a:rPr lang="en-US" sz="2400" b="1" dirty="0"/>
              <a:t>generate</a:t>
            </a:r>
            <a:r>
              <a:rPr lang="en-US" sz="2400" dirty="0"/>
              <a:t> blocks) to support the new channel</a:t>
            </a:r>
          </a:p>
        </p:txBody>
      </p:sp>
    </p:spTree>
    <p:extLst>
      <p:ext uri="{BB962C8B-B14F-4D97-AF65-F5344CB8AC3E}">
        <p14:creationId xmlns:p14="http://schemas.microsoft.com/office/powerpoint/2010/main" val="31998293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A5B342-9FE5-CEA2-A631-A99D5B8CFD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B049716-59C0-2FB1-72BE-923CF75EB2B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220788" y="234950"/>
            <a:ext cx="10971212" cy="1200150"/>
          </a:xfrm>
        </p:spPr>
        <p:txBody>
          <a:bodyPr/>
          <a:lstStyle/>
          <a:p>
            <a:r>
              <a:rPr lang="en-US" dirty="0"/>
              <a:t>Changes to VTP Connections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8E3E7E-EB71-312D-B9BE-AE329CB4153E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0" y="1509713"/>
            <a:ext cx="10625138" cy="4276725"/>
          </a:xfrm>
        </p:spPr>
        <p:txBody>
          <a:bodyPr/>
          <a:lstStyle/>
          <a:p>
            <a:r>
              <a:rPr lang="en-US" sz="2400" dirty="0"/>
              <a:t>No changes needed in mmd – the mmd doesn’t know there are multiple links</a:t>
            </a:r>
          </a:p>
          <a:p>
            <a:r>
              <a:rPr lang="en-US" sz="2400" dirty="0"/>
              <a:t>The host-memory space is common across both of the PCIe interfaces, which means we can use a single VTP-service block on the parent MMIO link</a:t>
            </a:r>
          </a:p>
          <a:p>
            <a:r>
              <a:rPr lang="en-US" sz="2400" dirty="0"/>
              <a:t>Add new VTP-translation modules for the new links</a:t>
            </a:r>
          </a:p>
          <a:p>
            <a:pPr lvl="1"/>
            <a:r>
              <a:rPr lang="en-US" dirty="0"/>
              <a:t>Increase the number of </a:t>
            </a:r>
            <a:r>
              <a:rPr lang="en-US" dirty="0" err="1"/>
              <a:t>vtp_port</a:t>
            </a:r>
            <a:r>
              <a:rPr lang="en-US" dirty="0"/>
              <a:t> interfaces such that each DMA and USM VTP-translation module has 2 ports</a:t>
            </a:r>
          </a:p>
          <a:p>
            <a:r>
              <a:rPr lang="en-US" sz="2400" dirty="0"/>
              <a:t>Link 0 (the parent link) will carry the same traffic it used to carry</a:t>
            </a:r>
          </a:p>
          <a:p>
            <a:pPr lvl="1"/>
            <a:r>
              <a:rPr lang="en-US" dirty="0"/>
              <a:t>Normal MMIO transactions, DMA[0] and USM[0] traffic, VTP services</a:t>
            </a:r>
          </a:p>
          <a:p>
            <a:r>
              <a:rPr lang="en-US" sz="2400" dirty="0"/>
              <a:t>Link 1 (the child link) will only carry DMA[1] and USM[1] traffic (and a very basic child-DFH response)</a:t>
            </a:r>
          </a:p>
        </p:txBody>
      </p:sp>
    </p:spTree>
    <p:extLst>
      <p:ext uri="{BB962C8B-B14F-4D97-AF65-F5344CB8AC3E}">
        <p14:creationId xmlns:p14="http://schemas.microsoft.com/office/powerpoint/2010/main" val="39066317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FA31EC-91F5-2C4A-68DF-9DF2CAD535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flowchart&#10;&#10;Description automatically generated">
            <a:extLst>
              <a:ext uri="{FF2B5EF4-FFF2-40B4-BE49-F238E27FC236}">
                <a16:creationId xmlns:a16="http://schemas.microsoft.com/office/drawing/2014/main" id="{0BE1D7D3-7C5A-6709-4DFF-EB93E63E3D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9" y="295207"/>
            <a:ext cx="12188825" cy="6105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26693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554</Words>
  <Application>Microsoft Office PowerPoint</Application>
  <PresentationFormat>Widescreen</PresentationFormat>
  <Paragraphs>46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Aptos Display</vt:lpstr>
      <vt:lpstr>Arial</vt:lpstr>
      <vt:lpstr>Calibri</vt:lpstr>
      <vt:lpstr>GT Walsheim Regular</vt:lpstr>
      <vt:lpstr>Office Theme</vt:lpstr>
      <vt:lpstr> OFS ASP – Multi-Link Support Douglas Groen</vt:lpstr>
      <vt:lpstr>Overview</vt:lpstr>
      <vt:lpstr>Goals for ASP Support</vt:lpstr>
      <vt:lpstr>High-Level ASP Changes</vt:lpstr>
      <vt:lpstr>Changes to DMA Controller</vt:lpstr>
      <vt:lpstr>Changes to USM Channels</vt:lpstr>
      <vt:lpstr>Changes to VTP Connections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Groen, Douglas</dc:creator>
  <cp:lastModifiedBy>Groen, Douglas</cp:lastModifiedBy>
  <cp:revision>2</cp:revision>
  <dcterms:created xsi:type="dcterms:W3CDTF">2025-01-29T23:39:47Z</dcterms:created>
  <dcterms:modified xsi:type="dcterms:W3CDTF">2025-01-29T23:45:40Z</dcterms:modified>
</cp:coreProperties>
</file>