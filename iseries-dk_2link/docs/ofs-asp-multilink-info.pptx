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81" r:id="rId2"/>
    <p:sldId id="2147376591" r:id="rId3"/>
    <p:sldId id="2147376608" r:id="rId4"/>
    <p:sldId id="2147376603" r:id="rId5"/>
    <p:sldId id="2147376609" r:id="rId6"/>
    <p:sldId id="2147376605" r:id="rId7"/>
    <p:sldId id="2147376604" r:id="rId8"/>
    <p:sldId id="2147376607" r:id="rId9"/>
    <p:sldId id="2147376611" r:id="rId10"/>
    <p:sldId id="2147376612" r:id="rId11"/>
    <p:sldId id="2147376613" r:id="rId12"/>
    <p:sldId id="2147376614" r:id="rId13"/>
    <p:sldId id="2147376616" r:id="rId14"/>
    <p:sldId id="2147376615" r:id="rId15"/>
    <p:sldId id="214737661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7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F3915-C706-7F2A-4FF6-2CDC1DF4A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C1E63B-B86B-91A0-506D-B40AB1E0F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D5BFA-24B9-E837-DC1F-F4E97541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153D2-2E7E-67EC-0698-C916C76BF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0EB23-DD68-1D14-38C6-2A2B1E499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0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E893A-7CD0-E7AF-AC74-E0A9F3124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D1DD6-C72E-BA15-7787-F99468889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9FB4F-C6F6-4ADE-D8E9-F6468AD33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BEC6B-4BE4-7B93-9B33-7457F3758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F4B69-9A6C-EF26-19B5-13BF440E3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93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46C59-0FBF-957D-A21D-FE093635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BEC03-8C89-8BC6-0AA0-54ACAA00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036E1-73B6-43E4-00E0-1084F288E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87337-EC39-9F42-5D09-ECD23939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FCAA7-9F42-E099-28C5-2CAB3E7A8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28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9940-C031-6D1D-EDE3-A5B3BC6F1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3739B-FB7D-7D02-CB52-F2FDCB063C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DC58A-2729-97D7-13F3-D739C75795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BA0CAA-47F7-B2C2-82FD-2E52D6CC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F7FED3-0BA9-58CB-0BB0-229D74F9E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93E1BA-8D63-4D50-1628-D8BF77D0C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916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A25EA-68E1-7DE7-4DD2-D69D1F7A0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90DFD-8B35-55DD-D2C2-27FB4DC98C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7F3F-F92C-F8AE-9A24-A12E67FDE1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0A497-AB30-73D3-AB1A-BEC71753C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2C799-4A75-E6CE-16F1-D11433F5B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CB3BDE-6285-78AD-FE02-66367B93D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1BEA63-7003-1C42-E39D-1EE7503B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84C85-2AA2-C0B9-4225-4BA9549E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22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9CCB-B29E-5D32-59E2-F17F162E5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087D54-CCE3-1C15-2861-B3C59F60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CDC1C3-7D38-00C6-4413-C8B0F61EF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A2ADD4-112E-A156-2CD0-00C143C1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506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46CDA9-5A34-B3BD-4E6D-6197A96E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14433F-11CF-8D00-C715-C4169C7C4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FE892-1B40-85E3-D2FB-00524E1CC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591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6EB50-A3E9-2723-C5EA-6E78A1A46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8EEAB-57FC-4614-D8C5-D4148D489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EEE829-108A-4594-16C7-9104FB02E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BFEA5-EEA4-7EEA-8EC9-74053F4B3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0C162-3191-DDC6-693D-37CEFD852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D64D7-FC78-8BAA-53E0-7B3698B3A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2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07303-F24D-CD2C-6982-452C34AE9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B6AA4-D2BE-E9E7-23B0-FF6F4BA815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4B5C16-5655-9706-DA32-DDC275C2C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B8BBC-7417-B3D3-F5AC-AD01CB09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0A073-D778-D0C2-D286-95619535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18196-0395-8504-8594-03426767E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286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A2DF-6177-CC45-3F96-C7402CC0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61189D-B518-5E3A-8E27-18E11307E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9B99D-B2D9-5CD0-0218-8A1D9187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30E04-54B1-2414-AAE3-508451B6D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AB15B-D7C0-17C6-2BAF-9FE84118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94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C7DFB2-B181-F2C0-406A-0D06099F9C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37B27-A1F4-8F10-700B-06E81AD73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B09A6-59B8-AB5D-5CE7-64BA09404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12143-2651-91B7-E03D-467F2E55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68859-AB45-0A95-58FC-7151CE5F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90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903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GT Walsheim Regular" pitchFamily="2" charset="77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3" name="Click to edit title style"/>
          <p:cNvSpPr txBox="1">
            <a:spLocks noGrp="1"/>
          </p:cNvSpPr>
          <p:nvPr>
            <p:ph type="title" hasCustomPrompt="1"/>
          </p:nvPr>
        </p:nvSpPr>
        <p:spPr>
          <a:xfrm>
            <a:off x="613772" y="235550"/>
            <a:ext cx="10972093" cy="119982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1pPr>
          </a:lstStyle>
          <a:p>
            <a:r>
              <a:t>Click to edit title style</a:t>
            </a:r>
          </a:p>
        </p:txBody>
      </p:sp>
      <p:sp>
        <p:nvSpPr>
          <p:cNvPr id="38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14364" y="1510206"/>
            <a:ext cx="10971212" cy="470535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1pPr>
            <a:lvl2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2pPr>
            <a:lvl3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3pPr>
            <a:lvl4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4pPr>
            <a:lvl5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5pPr>
          </a:lstStyle>
          <a:p>
            <a:r>
              <a:t>Click to edit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005B0-D268-247B-75E6-CF34CEC8A96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9196" y="6437339"/>
            <a:ext cx="719075" cy="29370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6F9351-6891-EADF-6B26-593D0CB999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GT Walsheim Regular" pitchFamily="2" charset="77"/>
              </a:rPr>
              <a:t>Programmable Software and Solutions Group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412CF-085F-57AD-730B-127DB599A3ED}"/>
              </a:ext>
            </a:extLst>
          </p:cNvPr>
          <p:cNvSpPr txBox="1"/>
          <p:nvPr userDrawn="1"/>
        </p:nvSpPr>
        <p:spPr>
          <a:xfrm>
            <a:off x="10233785" y="6397322"/>
            <a:ext cx="1432804" cy="37693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91439" tIns="91439" rIns="91439" bIns="91439" numCol="1" spcCol="38100" rtlCol="0" anchor="ctr">
            <a:noAutofit/>
          </a:bodyPr>
          <a:lstStyle/>
          <a:p>
            <a:pPr marL="0" marR="0" indent="0" algn="r" defTabSz="18288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  <a:sym typeface="IntelOne Text"/>
              </a:rPr>
              <a:t>Altera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782234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ogo Light 1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81" y="-1"/>
            <a:ext cx="12189040" cy="6858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6CE894-2746-BF2C-91DD-BF28FD7A28A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04503" y="1755885"/>
            <a:ext cx="6210986" cy="2539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80113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C25CBB-6678-222D-C6B8-21DD44460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1F1BC-9D27-0A2B-385D-F9208AA1D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4B56E-B760-D7BA-AAAD-9CA249242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775746-E790-4A0C-AFAA-72E0767BC452}" type="datetimeFigureOut">
              <a:rPr lang="en-US" smtClean="0"/>
              <a:t>1/31/2025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C91A62-3BF6-7A87-35B7-38335677F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414BF-A63B-5368-060A-82807E3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3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S/examples-afu/tree/main/tutorial/afu_types/04_multi_link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ouglasGroen/oneapi-asp/tree/2link_docs/iseries-dk_2link/docs/oneAPI-samples/boardtest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8EF212-CC9E-217B-605A-4FDE11894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89" y="4270376"/>
            <a:ext cx="10685463" cy="822325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OFS ASP – Multi-Link Support</a:t>
            </a:r>
            <a:br>
              <a:rPr lang="en-US" dirty="0"/>
            </a:br>
            <a:r>
              <a:rPr lang="en-US" sz="1800" dirty="0"/>
              <a:t>Douglas Groen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0ACAD-9E4A-F420-AFAD-4AF2CB94CC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2050713" y="6507164"/>
            <a:ext cx="139700" cy="153987"/>
          </a:xfrm>
        </p:spPr>
        <p:txBody>
          <a:bodyPr/>
          <a:lstStyle/>
          <a:p>
            <a:fld id="{86CB4B4D-7CA3-9044-876B-883B54F8677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4549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194D2C-0894-3F53-4E8C-13D1642E101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07501-5EFD-0FF1-F187-D8E068B1E3B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220788" y="1509713"/>
            <a:ext cx="10971212" cy="4705350"/>
          </a:xfrm>
        </p:spPr>
        <p:txBody>
          <a:bodyPr/>
          <a:lstStyle/>
          <a:p>
            <a:r>
              <a:rPr lang="en-US" sz="2400" dirty="0"/>
              <a:t>Increasing PCIe link speeds led the FIM to implement 2 separate interfaces to the AFU</a:t>
            </a:r>
          </a:p>
          <a:p>
            <a:pPr lvl="1"/>
            <a:r>
              <a:rPr lang="en-US" dirty="0"/>
              <a:t>Physical interfaces: 2 x Gen5x8 instead of 1 x Gen5x16</a:t>
            </a:r>
          </a:p>
          <a:p>
            <a:pPr lvl="1"/>
            <a:r>
              <a:rPr lang="en-US" dirty="0"/>
              <a:t>On-chip interfaces: 2 x 512 bit @ 500 MHz instead of either 1 x 1024 bit @ 500 MHz or 1 x 512 bit @ 1GHz</a:t>
            </a:r>
          </a:p>
          <a:p>
            <a:r>
              <a:rPr lang="en-US" sz="2400" dirty="0"/>
              <a:t>OPAE supports this already, and there are example RTL designs here: 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hlinkClick r:id="rId2"/>
              </a:rPr>
              <a:t>https://github.com/OFS/examples-afu/tree/main/tutorial/afu_types/04_multi_link</a:t>
            </a:r>
            <a:endParaRPr lang="en-US" dirty="0"/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3344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E7D09-71EA-727C-91BB-9713473B6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851CBA-3B05-5A7A-D1F6-FEDC9D8BDC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Goals for ASP Support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08508-7BC5-7C16-065F-DBC09916502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09263" cy="3749675"/>
          </a:xfrm>
        </p:spPr>
        <p:txBody>
          <a:bodyPr/>
          <a:lstStyle/>
          <a:p>
            <a:r>
              <a:rPr lang="en-US" sz="2400" dirty="0"/>
              <a:t>Minimize changes to ASP mmd software</a:t>
            </a:r>
          </a:p>
          <a:p>
            <a:pPr lvl="1"/>
            <a:r>
              <a:rPr lang="en-US" dirty="0"/>
              <a:t>None were required – mmd doesn’t know how many links exist</a:t>
            </a:r>
          </a:p>
          <a:p>
            <a:r>
              <a:rPr lang="en-US" sz="2400" dirty="0"/>
              <a:t>DMA controller must leverage both links</a:t>
            </a:r>
          </a:p>
          <a:p>
            <a:pPr lvl="1"/>
            <a:r>
              <a:rPr lang="en-US" dirty="0"/>
              <a:t>Autonomously split a transfer across both links</a:t>
            </a:r>
          </a:p>
          <a:p>
            <a:r>
              <a:rPr lang="en-US" sz="2400" dirty="0"/>
              <a:t>USM / kernel must leverage both links</a:t>
            </a:r>
          </a:p>
          <a:p>
            <a:pPr lvl="1"/>
            <a:r>
              <a:rPr lang="en-US" dirty="0"/>
              <a:t>Explicit access of two ‘</a:t>
            </a:r>
            <a:r>
              <a:rPr lang="en-US" dirty="0" err="1"/>
              <a:t>global_mem</a:t>
            </a:r>
            <a:r>
              <a:rPr lang="en-US" dirty="0"/>
              <a:t>’ interfaces</a:t>
            </a:r>
          </a:p>
          <a:p>
            <a:r>
              <a:rPr lang="en-US" sz="2400" dirty="0"/>
              <a:t>Share as many VTP resources as possible</a:t>
            </a:r>
          </a:p>
          <a:p>
            <a:pPr lvl="1"/>
            <a:r>
              <a:rPr lang="en-US" dirty="0"/>
              <a:t>Same address-space on the host, no need to duplicate all VTP resources</a:t>
            </a:r>
          </a:p>
        </p:txBody>
      </p:sp>
    </p:spTree>
    <p:extLst>
      <p:ext uri="{BB962C8B-B14F-4D97-AF65-F5344CB8AC3E}">
        <p14:creationId xmlns:p14="http://schemas.microsoft.com/office/powerpoint/2010/main" val="3261666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959D-93E7-4F5B-454A-AE254725D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FF1011-0A8B-D2DE-5C7A-B91B4DCF62A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High-Level ASP Changes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0C87B4-D736-2FAB-F3EF-A74C0D1E86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89903"/>
            <a:ext cx="10609263" cy="4497859"/>
          </a:xfrm>
        </p:spPr>
        <p:txBody>
          <a:bodyPr>
            <a:normAutofit/>
          </a:bodyPr>
          <a:lstStyle/>
          <a:p>
            <a:r>
              <a:rPr lang="en-US" sz="2400" dirty="0"/>
              <a:t>New board variant at the top level of the repo</a:t>
            </a:r>
          </a:p>
          <a:p>
            <a:r>
              <a:rPr lang="en-US" sz="2400" dirty="0"/>
              <a:t>Arrays of </a:t>
            </a:r>
            <a:r>
              <a:rPr lang="en-US" sz="2400" dirty="0" err="1"/>
              <a:t>SystemVerilog</a:t>
            </a:r>
            <a:r>
              <a:rPr lang="en-US" sz="2400" dirty="0"/>
              <a:t> interfaces to enable parameterization</a:t>
            </a:r>
          </a:p>
          <a:p>
            <a:r>
              <a:rPr lang="en-US" sz="2400" dirty="0"/>
              <a:t>Replication of module instances using </a:t>
            </a:r>
            <a:r>
              <a:rPr lang="en-US" sz="2400" b="1" dirty="0"/>
              <a:t>generate</a:t>
            </a:r>
          </a:p>
          <a:p>
            <a:r>
              <a:rPr lang="en-US" sz="2400" dirty="0"/>
              <a:t>New `defines to enable changes to the kernel-system’s port-list</a:t>
            </a:r>
          </a:p>
          <a:p>
            <a:r>
              <a:rPr lang="en-US" sz="2400" dirty="0"/>
              <a:t>Different handling of parent and child AXI-ST interfaces</a:t>
            </a:r>
          </a:p>
          <a:p>
            <a:r>
              <a:rPr lang="en-US" sz="2400" dirty="0"/>
              <a:t>DMA controller splits each transfer across the 2 links</a:t>
            </a:r>
          </a:p>
          <a:p>
            <a:r>
              <a:rPr lang="en-US" sz="2400" dirty="0"/>
              <a:t>Updates to board_spec.xml for the USM variant</a:t>
            </a:r>
          </a:p>
          <a:p>
            <a:pPr lvl="1"/>
            <a:r>
              <a:rPr lang="en-US" dirty="0"/>
              <a:t>new </a:t>
            </a:r>
            <a:r>
              <a:rPr lang="en-US" dirty="0" err="1"/>
              <a:t>global_mem</a:t>
            </a:r>
            <a:r>
              <a:rPr lang="en-US" dirty="0"/>
              <a:t> interface for 2</a:t>
            </a:r>
            <a:r>
              <a:rPr lang="en-US" baseline="30000" dirty="0"/>
              <a:t>nd</a:t>
            </a:r>
            <a:r>
              <a:rPr lang="en-US" dirty="0"/>
              <a:t> USM channel</a:t>
            </a:r>
          </a:p>
          <a:p>
            <a:pPr lvl="1"/>
            <a:r>
              <a:rPr lang="en-US" dirty="0"/>
              <a:t>address-range updates for the DDR interfaces</a:t>
            </a:r>
          </a:p>
        </p:txBody>
      </p:sp>
    </p:spTree>
    <p:extLst>
      <p:ext uri="{BB962C8B-B14F-4D97-AF65-F5344CB8AC3E}">
        <p14:creationId xmlns:p14="http://schemas.microsoft.com/office/powerpoint/2010/main" val="332624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88FE-9845-CA7D-3358-B2E145EE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D34024D-598E-79B7-6B37-059905D4DB8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0086" y="234950"/>
            <a:ext cx="11911914" cy="1200150"/>
          </a:xfrm>
        </p:spPr>
        <p:txBody>
          <a:bodyPr/>
          <a:lstStyle/>
          <a:p>
            <a:r>
              <a:rPr lang="en-US" dirty="0"/>
              <a:t>Changes to AXI/AVMM Conversion </a:t>
            </a:r>
            <a:r>
              <a:rPr lang="en-US"/>
              <a:t>(PIM Modules)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38191-01E7-ADCA-1EE0-899B77DEBA47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276725"/>
          </a:xfrm>
        </p:spPr>
        <p:txBody>
          <a:bodyPr>
            <a:normAutofit fontScale="92500"/>
          </a:bodyPr>
          <a:lstStyle/>
          <a:p>
            <a:r>
              <a:rPr lang="en-US" dirty="0"/>
              <a:t>The Parent link remains the same – AXI-ST[0]</a:t>
            </a:r>
          </a:p>
          <a:p>
            <a:pPr lvl="1"/>
            <a:r>
              <a:rPr lang="en-US" dirty="0"/>
              <a:t>Leverages the PIM’s </a:t>
            </a:r>
            <a:r>
              <a:rPr lang="en-US" dirty="0" err="1"/>
              <a:t>ofs_plat_host_chan_as_avalon_mem_rdwr_with_mmio</a:t>
            </a:r>
            <a:r>
              <a:rPr lang="en-US" dirty="0"/>
              <a:t> module to give us the host-mem AVMM_RDWR interface and a MMIO64 AVMM interface for the ASP</a:t>
            </a:r>
          </a:p>
          <a:p>
            <a:pPr lvl="1"/>
            <a:r>
              <a:rPr lang="en-US" dirty="0"/>
              <a:t>This link’s AFU ID / DFL information changes to indicate there is a child link, including the child’s GUID</a:t>
            </a:r>
          </a:p>
          <a:p>
            <a:r>
              <a:rPr lang="en-US" dirty="0"/>
              <a:t>The Child AXI-ST link is AXI-ST[1]</a:t>
            </a:r>
          </a:p>
          <a:p>
            <a:pPr lvl="1"/>
            <a:r>
              <a:rPr lang="en-US" dirty="0"/>
              <a:t>Uses the PIM’s </a:t>
            </a:r>
            <a:r>
              <a:rPr lang="en-US" dirty="0" err="1"/>
              <a:t>ofs_plat_host_chan_fim_multi_link_afu_dfh</a:t>
            </a:r>
            <a:r>
              <a:rPr lang="en-US" dirty="0"/>
              <a:t> with the child’s GUID</a:t>
            </a:r>
          </a:p>
          <a:p>
            <a:pPr lvl="1"/>
            <a:r>
              <a:rPr lang="en-US" dirty="0"/>
              <a:t>The PIM’s AXI-ST / AVMM_RDWR conversion occurs using </a:t>
            </a:r>
            <a:r>
              <a:rPr lang="en-US" dirty="0" err="1"/>
              <a:t>ofs_plat_host_chan_as_avalon_mem_rdwr</a:t>
            </a:r>
            <a:r>
              <a:rPr lang="en-US" dirty="0"/>
              <a:t>, which is similar to the parent link except it doesn’t include the MMIO AVMM interface (the only MMIO transactions handled on the child link are the DFH transactions)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64973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5B342-9FE5-CEA2-A631-A99D5B8CF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9716-59C0-2FB1-72BE-923CF75EB2B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VTP Connections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E3E7E-EB71-312D-B9BE-AE329CB4153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276725"/>
          </a:xfrm>
        </p:spPr>
        <p:txBody>
          <a:bodyPr/>
          <a:lstStyle/>
          <a:p>
            <a:r>
              <a:rPr lang="en-US" sz="2400" dirty="0"/>
              <a:t>No changes needed in mmd – the mmd doesn’t know there are multiple links</a:t>
            </a:r>
          </a:p>
          <a:p>
            <a:r>
              <a:rPr lang="en-US" sz="2400" dirty="0"/>
              <a:t>The host-memory space is common across both of the PCIe interfaces, which means we can use a single VTP-service block on the parent MMIO link</a:t>
            </a:r>
          </a:p>
          <a:p>
            <a:r>
              <a:rPr lang="en-US" sz="2400" dirty="0"/>
              <a:t>Add new VTP-translation modules for the new links</a:t>
            </a:r>
          </a:p>
          <a:p>
            <a:pPr lvl="1"/>
            <a:r>
              <a:rPr lang="en-US" dirty="0"/>
              <a:t>Increase the number of </a:t>
            </a:r>
            <a:r>
              <a:rPr lang="en-US" dirty="0" err="1"/>
              <a:t>vtp_port</a:t>
            </a:r>
            <a:r>
              <a:rPr lang="en-US" dirty="0"/>
              <a:t> interfaces such that each DMA and USM VTP-translation module has 2 ports</a:t>
            </a:r>
          </a:p>
          <a:p>
            <a:r>
              <a:rPr lang="en-US" sz="2400" dirty="0"/>
              <a:t>Link 0 (the parent link) will carry the same traffic it used to carry</a:t>
            </a:r>
          </a:p>
          <a:p>
            <a:pPr lvl="1"/>
            <a:r>
              <a:rPr lang="en-US" dirty="0"/>
              <a:t>Normal MMIO transactions, DMA[0] and USM[0] traffic, VTP services</a:t>
            </a:r>
          </a:p>
          <a:p>
            <a:r>
              <a:rPr lang="en-US" sz="2400" dirty="0"/>
              <a:t>Link 1 (the child link) will only carry DMA[1] and USM[1] traffic (and a very basic child-DFH response)</a:t>
            </a:r>
          </a:p>
        </p:txBody>
      </p:sp>
    </p:spTree>
    <p:extLst>
      <p:ext uri="{BB962C8B-B14F-4D97-AF65-F5344CB8AC3E}">
        <p14:creationId xmlns:p14="http://schemas.microsoft.com/office/powerpoint/2010/main" val="390663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0FA57-9FDF-0054-B25B-BB8FC3E9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ACA4D1-175E-0FCC-C969-80F6C8D1877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DMA Controller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11D9D-29F6-611B-F7F6-FFC49E21A19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016375"/>
          </a:xfrm>
        </p:spPr>
        <p:txBody>
          <a:bodyPr/>
          <a:lstStyle/>
          <a:p>
            <a:r>
              <a:rPr lang="en-US" sz="2400" dirty="0"/>
              <a:t>No changes needed in mmd – the same 3 registers are used to define a DMA transfer: source address, destination address, transfer length</a:t>
            </a:r>
          </a:p>
          <a:p>
            <a:r>
              <a:rPr lang="en-US" sz="2400" dirty="0"/>
              <a:t>DMA ‘dispatcher’ module changes</a:t>
            </a:r>
          </a:p>
          <a:p>
            <a:pPr lvl="1"/>
            <a:r>
              <a:rPr lang="en-US" dirty="0"/>
              <a:t>Logic to split a DMA transaction into 2 halves</a:t>
            </a:r>
          </a:p>
          <a:p>
            <a:pPr lvl="1"/>
            <a:r>
              <a:rPr lang="en-US" dirty="0"/>
              <a:t>Logic to detect transfer completion and send IRQ or message to mmd</a:t>
            </a:r>
          </a:p>
          <a:p>
            <a:r>
              <a:rPr lang="en-US" sz="2400" dirty="0"/>
              <a:t>DMA ‘data-transfer’ modules are duplicated to support each half of the total transaction</a:t>
            </a:r>
          </a:p>
          <a:p>
            <a:r>
              <a:rPr lang="en-US" sz="2400" dirty="0"/>
              <a:t>MMIO transactions occur only on the parent PCIe link</a:t>
            </a:r>
          </a:p>
          <a:p>
            <a:pPr lvl="1"/>
            <a:r>
              <a:rPr lang="en-US" dirty="0"/>
              <a:t>DFH reading, status/control registers, H2F IRQ, F2H ‘magic number’,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697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420FD-F349-D1CC-334B-89871165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DA91A7-80B2-8A5B-C709-08D5C80451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USM Channels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65750C-BBB6-7731-4AB6-162B5CF1B4D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r>
              <a:rPr lang="en-US" sz="2400" dirty="0"/>
              <a:t>Duplicate RTL paths for USM[0] and USM[1] from the kernel-system, through pipeline bridges, to VTP translation blocks</a:t>
            </a:r>
          </a:p>
          <a:p>
            <a:r>
              <a:rPr lang="en-US" sz="2400" dirty="0"/>
              <a:t>The USM test within </a:t>
            </a:r>
            <a:r>
              <a:rPr lang="en-US" sz="2400" dirty="0" err="1"/>
              <a:t>boardtest</a:t>
            </a:r>
            <a:r>
              <a:rPr lang="en-US" sz="2400" dirty="0"/>
              <a:t> was modified to explicitly leverage both channels</a:t>
            </a:r>
          </a:p>
          <a:p>
            <a:pPr lvl="1"/>
            <a:r>
              <a:rPr lang="en-US" dirty="0">
                <a:hlinkClick r:id="rId2"/>
              </a:rPr>
              <a:t>https://github.com/DouglasGroen/oneapi-asp/tree/2link_docs/iseries-dk_2link/docs/oneAPI-samples/boardtest</a:t>
            </a:r>
            <a:endParaRPr lang="en-US" dirty="0"/>
          </a:p>
          <a:p>
            <a:pPr lvl="1"/>
            <a:r>
              <a:rPr lang="en-US" sz="2400" dirty="0"/>
              <a:t>No complicated changes to the ASP for this – mainly duplication of code (in </a:t>
            </a:r>
            <a:r>
              <a:rPr lang="en-US" sz="2400" b="1" dirty="0"/>
              <a:t>generate</a:t>
            </a:r>
            <a:r>
              <a:rPr lang="en-US" sz="2400" dirty="0"/>
              <a:t> blocks) to support the new channel</a:t>
            </a:r>
          </a:p>
        </p:txBody>
      </p:sp>
    </p:spTree>
    <p:extLst>
      <p:ext uri="{BB962C8B-B14F-4D97-AF65-F5344CB8AC3E}">
        <p14:creationId xmlns:p14="http://schemas.microsoft.com/office/powerpoint/2010/main" val="3199829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7C277-F776-89B8-959A-BE6A04F5E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591940-558B-7025-B9BC-AF5E2A44B4A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Minimum Regression Examples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458D-F283-8999-1697-F9D20E3FB2AB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r>
              <a:rPr lang="en-US" sz="2400" dirty="0"/>
              <a:t>I typically compile and test the following designs in hardware:</a:t>
            </a:r>
          </a:p>
          <a:p>
            <a:pPr lvl="1"/>
            <a:r>
              <a:rPr lang="en-US" sz="2000" dirty="0" err="1"/>
              <a:t>Aocl</a:t>
            </a:r>
            <a:r>
              <a:rPr lang="en-US" sz="2000" dirty="0"/>
              <a:t> diagnose and </a:t>
            </a:r>
            <a:r>
              <a:rPr lang="en-US" sz="2000" dirty="0" err="1"/>
              <a:t>aocl</a:t>
            </a:r>
            <a:r>
              <a:rPr lang="en-US" sz="2000" dirty="0"/>
              <a:t> diagnose all</a:t>
            </a:r>
          </a:p>
          <a:p>
            <a:pPr lvl="1"/>
            <a:r>
              <a:rPr lang="en-US" sz="2000" dirty="0" err="1"/>
              <a:t>Anr</a:t>
            </a:r>
            <a:r>
              <a:rPr lang="en-US" sz="2000" dirty="0"/>
              <a:t> (quick)</a:t>
            </a:r>
          </a:p>
          <a:p>
            <a:pPr lvl="1"/>
            <a:r>
              <a:rPr lang="en-US" sz="2000" dirty="0"/>
              <a:t>Cholesky and </a:t>
            </a:r>
            <a:r>
              <a:rPr lang="en-US" sz="2000" dirty="0" err="1"/>
              <a:t>Cholesky_inversion</a:t>
            </a:r>
            <a:r>
              <a:rPr lang="en-US" sz="2000" dirty="0"/>
              <a:t> (one of them uses read-after-write flow-control which tests the write-ack handling in the ASP)</a:t>
            </a:r>
          </a:p>
          <a:p>
            <a:pPr lvl="1"/>
            <a:r>
              <a:rPr lang="en-US" sz="2000" dirty="0"/>
              <a:t>Double-buffering (stresses DMA and DDR traffic)</a:t>
            </a:r>
          </a:p>
          <a:p>
            <a:pPr lvl="1"/>
            <a:r>
              <a:rPr lang="en-US" sz="2000" dirty="0"/>
              <a:t>Simple-host-streaming, buffered-host-</a:t>
            </a:r>
            <a:r>
              <a:rPr lang="en-US" sz="2000" dirty="0" err="1"/>
              <a:t>streaming,explicit</a:t>
            </a:r>
            <a:r>
              <a:rPr lang="en-US" sz="2000" dirty="0"/>
              <a:t>-data-movement (USM tests)</a:t>
            </a:r>
          </a:p>
          <a:p>
            <a:pPr lvl="1"/>
            <a:r>
              <a:rPr lang="en-US" sz="2000" dirty="0"/>
              <a:t>Zero-copy-data-transfer (DMA and USM test, including mixed-size transfers; also supports configurable amount of data at the command-line which allows for weird sizes and corner cases)</a:t>
            </a:r>
          </a:p>
          <a:p>
            <a:pPr lvl="1"/>
            <a:r>
              <a:rPr lang="en-US" sz="2000" dirty="0" err="1"/>
              <a:t>Boardtest</a:t>
            </a:r>
            <a:r>
              <a:rPr lang="en-US" sz="2000" dirty="0"/>
              <a:t> (both USM and non-USM variants)</a:t>
            </a:r>
          </a:p>
        </p:txBody>
      </p:sp>
    </p:spTree>
    <p:extLst>
      <p:ext uri="{BB962C8B-B14F-4D97-AF65-F5344CB8AC3E}">
        <p14:creationId xmlns:p14="http://schemas.microsoft.com/office/powerpoint/2010/main" val="3008428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8E7F8-1EAA-9118-92A3-E07E23B1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074BD9-F86D-F481-E704-5346985DA43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Resource Utilization of 2</a:t>
            </a:r>
            <a:r>
              <a:rPr lang="en-US" baseline="30000" dirty="0"/>
              <a:t>nd</a:t>
            </a:r>
            <a:r>
              <a:rPr lang="en-US" dirty="0"/>
              <a:t> Link Modules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A428A9-A689-B029-1524-7320E1F1BEE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r>
              <a:rPr lang="en-US" sz="2400" dirty="0"/>
              <a:t>The following table shows some of the main new/duplicated modules that are added to support a 2</a:t>
            </a:r>
            <a:r>
              <a:rPr lang="en-US" sz="2400" baseline="30000" dirty="0"/>
              <a:t>nd</a:t>
            </a:r>
            <a:r>
              <a:rPr lang="en-US" sz="2400" dirty="0"/>
              <a:t> PCIe link. 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dma_dispatcher</a:t>
            </a:r>
            <a:r>
              <a:rPr lang="en-US" sz="2400" dirty="0"/>
              <a:t> module isn’t new but is larger than a 1-link version.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8241E4-26DA-6C33-FCE6-AEE2BE928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01443"/>
              </p:ext>
            </p:extLst>
          </p:nvPr>
        </p:nvGraphicFramePr>
        <p:xfrm>
          <a:off x="892969" y="3247736"/>
          <a:ext cx="8839200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10400">
                  <a:extLst>
                    <a:ext uri="{9D8B030D-6E8A-4147-A177-3AD203B41FA5}">
                      <a16:colId xmlns:a16="http://schemas.microsoft.com/office/drawing/2014/main" val="185101572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9033541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173315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3781439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Instance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ALMs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Registers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M20K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540751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ofs_plat_afu|child_hostmem_links</a:t>
                      </a:r>
                      <a:r>
                        <a:rPr lang="en-US" sz="1100" u="none" strike="noStrike" dirty="0">
                          <a:effectLst/>
                        </a:rPr>
                        <a:t>[1]|</a:t>
                      </a:r>
                      <a:r>
                        <a:rPr lang="en-US" sz="1100" u="none" strike="noStrike" dirty="0" err="1">
                          <a:effectLst/>
                        </a:rPr>
                        <a:t>child_link_dfh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742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2151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9341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ofs_plat_afu|child_hostmem_links</a:t>
                      </a:r>
                      <a:r>
                        <a:rPr lang="en-US" sz="1100" u="none" strike="noStrike" dirty="0">
                          <a:effectLst/>
                        </a:rPr>
                        <a:t>[1]|</a:t>
                      </a:r>
                      <a:r>
                        <a:rPr lang="en-US" sz="1100" u="none" strike="noStrike" dirty="0" err="1">
                          <a:effectLst/>
                        </a:rPr>
                        <a:t>primary_avalon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6865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18000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9509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ofs_plat_afu|afu_inst|kernel_wrapper_inst|usm_channels_partial_writes[1].avmm_single_burst_partial_writes_inst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306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506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917537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dma_dispatcher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526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2118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048778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u="none" strike="noStrike">
                          <a:effectLst/>
                        </a:rPr>
                        <a:t>dma_data_transfer H2F [1]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8300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22000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30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31033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u="none" strike="noStrike">
                          <a:effectLst/>
                        </a:rPr>
                        <a:t>dma_data_transfer F2H [1]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8300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22000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30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03339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nb-NO" sz="1100" u="none" strike="noStrike">
                          <a:effectLst/>
                        </a:rPr>
                        <a:t>mpf_vtp_translate - DMA[1]</a:t>
                      </a:r>
                      <a:endParaRPr lang="nb-NO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4000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4041793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mpf_vtp_translate - USM[1]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4000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5564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093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1596D-B175-6D00-124D-39E94359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D69671-0FD7-BF1F-74B8-799D2CE44AC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Things to Consider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5642EE-CD62-9160-C041-448769420CC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plat_ifc.host_chan.ports</a:t>
            </a:r>
            <a:r>
              <a:rPr lang="en-US" sz="2400" dirty="0"/>
              <a:t> [] indices are important</a:t>
            </a:r>
          </a:p>
          <a:p>
            <a:pPr lvl="1"/>
            <a:r>
              <a:rPr lang="en-US" sz="2000" dirty="0"/>
              <a:t>With the baseline 2-link FIM the indices are [0] for parent and [3] for child.</a:t>
            </a:r>
          </a:p>
          <a:p>
            <a:pPr lvl="1"/>
            <a:r>
              <a:rPr lang="en-US" sz="2000" dirty="0"/>
              <a:t>If you use the slim FIM or another PF/VF configuration, you’ll need to check which indices are valid for the 2 separate links.</a:t>
            </a:r>
          </a:p>
          <a:p>
            <a:pPr lvl="1"/>
            <a:r>
              <a:rPr lang="en-US" sz="2000" dirty="0"/>
              <a:t>Ideally, you’d have some script or function to determine this and not have it hard-coded. You should probably be able to figure it out based on FIM settings</a:t>
            </a:r>
            <a:r>
              <a:rPr lang="en-US" sz="2000"/>
              <a:t>/parameters/defines.</a:t>
            </a:r>
            <a:endParaRPr lang="en-US" sz="2000" dirty="0"/>
          </a:p>
          <a:p>
            <a:r>
              <a:rPr lang="en-US" sz="2400" dirty="0"/>
              <a:t>DMA controller</a:t>
            </a:r>
          </a:p>
          <a:p>
            <a:pPr lvl="1"/>
            <a:r>
              <a:rPr lang="en-US" sz="2000" dirty="0"/>
              <a:t>The dispatcher splits the single transfer over both links. </a:t>
            </a:r>
          </a:p>
          <a:p>
            <a:pPr lvl="1"/>
            <a:r>
              <a:rPr lang="en-US" sz="2000" dirty="0"/>
              <a:t>It also waits for completions from both links before telling the host it is done.</a:t>
            </a:r>
          </a:p>
          <a:p>
            <a:pPr lvl="1"/>
            <a:r>
              <a:rPr lang="en-US" sz="2000" dirty="0"/>
              <a:t>This has been tested with several </a:t>
            </a:r>
            <a:r>
              <a:rPr lang="en-US" sz="2000" dirty="0" err="1"/>
              <a:t>oneapi</a:t>
            </a:r>
            <a:r>
              <a:rPr lang="en-US" sz="2000" dirty="0"/>
              <a:t>-samples designs in hardware, and it works so far. However, it is a drastic change from how the controller/dispatcher used to function, so, of course, it could have bugs.</a:t>
            </a:r>
          </a:p>
          <a:p>
            <a:r>
              <a:rPr lang="en-US" sz="2400" dirty="0"/>
              <a:t>Child GUID</a:t>
            </a:r>
          </a:p>
          <a:p>
            <a:pPr lvl="1"/>
            <a:r>
              <a:rPr lang="en-US" sz="2000" dirty="0"/>
              <a:t>The child GUID must match the information in the parent’s DFH data.</a:t>
            </a:r>
          </a:p>
          <a:p>
            <a:pPr lvl="1"/>
            <a:r>
              <a:rPr lang="en-US" sz="2000" dirty="0"/>
              <a:t>The child GUID cannot be 0x0</a:t>
            </a:r>
          </a:p>
        </p:txBody>
      </p:sp>
    </p:spTree>
    <p:extLst>
      <p:ext uri="{BB962C8B-B14F-4D97-AF65-F5344CB8AC3E}">
        <p14:creationId xmlns:p14="http://schemas.microsoft.com/office/powerpoint/2010/main" val="2013315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F070-47C4-D3EE-FA02-9DA043F84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2D90CF-71BF-8E4B-61BB-7F421C92D92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(1)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9D49EC-6FF5-74AB-C36B-F7891A93D5F7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For a baseline FIM with a 2 x Gen5x8 interface to the host these are the initialization steps I use on our test system: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 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ls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pci_device</a:t>
            </a:r>
            <a:r>
              <a:rPr lang="en-US" sz="1800" dirty="0">
                <a:effectLst/>
                <a:latin typeface="Calibri" panose="020F0502020204030204" pitchFamily="34" charset="0"/>
              </a:rPr>
              <a:t>  0000:2a:00.0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vf</a:t>
            </a:r>
            <a:r>
              <a:rPr lang="en-US" sz="1800" dirty="0">
                <a:effectLst/>
                <a:latin typeface="Calibri" panose="020F0502020204030204" pitchFamily="34" charset="0"/>
              </a:rPr>
              <a:t> 1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pci_device</a:t>
            </a:r>
            <a:r>
              <a:rPr lang="en-US" sz="1800" dirty="0">
                <a:effectLst/>
                <a:latin typeface="Calibri" panose="020F0502020204030204" pitchFamily="34" charset="0"/>
              </a:rPr>
              <a:t>  0000:2b:00.0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vf</a:t>
            </a:r>
            <a:r>
              <a:rPr lang="en-US" sz="1800" dirty="0">
                <a:effectLst/>
                <a:latin typeface="Calibri" panose="020F0502020204030204" pitchFamily="34" charset="0"/>
              </a:rPr>
              <a:t> 1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ls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init</a:t>
            </a:r>
            <a:r>
              <a:rPr lang="en-US" sz="1800" dirty="0">
                <a:effectLst/>
                <a:latin typeface="Calibri" panose="020F0502020204030204" pitchFamily="34" charset="0"/>
              </a:rPr>
              <a:t> -d 0000:2a:00.3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user:user</a:t>
            </a:r>
            <a:endParaRPr lang="en-US" sz="1800" dirty="0">
              <a:effectLst/>
              <a:latin typeface="Calibri" panose="020F0502020204030204" pitchFamily="34" charset="0"/>
            </a:endParaRP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init</a:t>
            </a:r>
            <a:r>
              <a:rPr lang="en-US" sz="1800" dirty="0">
                <a:effectLst/>
                <a:latin typeface="Calibri" panose="020F0502020204030204" pitchFamily="34" charset="0"/>
              </a:rPr>
              <a:t> -d 0000:2b:00.3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user:user</a:t>
            </a:r>
            <a:endParaRPr lang="en-US" sz="1800" dirty="0">
              <a:effectLst/>
              <a:latin typeface="Calibri" panose="020F0502020204030204" pitchFamily="34" charset="0"/>
            </a:endParaRP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ls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lspci</a:t>
            </a:r>
            <a:r>
              <a:rPr lang="en-US" sz="1800" dirty="0">
                <a:effectLst/>
                <a:latin typeface="Calibri" panose="020F0502020204030204" pitchFamily="34" charset="0"/>
              </a:rPr>
              <a:t> | grep accel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ACL_HAL_DEBUG=99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#debugging messages from mmd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MMD_ENABLE_DEBUG=1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MMD_DMA_DEBUG=1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LIBOPAE_LOG=2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98193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5A7C1-4D29-780F-6125-0EA3C7FB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56EF4CB-74DB-00C5-3908-23F1E00B14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(2)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A1A93-F25F-D09C-D3C0-369E29B7C0C0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2000" dirty="0"/>
              <a:t> This is the output from my test-system for the above steps:</a:t>
            </a:r>
          </a:p>
          <a:p>
            <a:pPr marL="0" indent="0">
              <a:buNone/>
            </a:pP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opae.io ls</a:t>
            </a:r>
          </a:p>
          <a:p>
            <a:pPr marL="0" indent="0">
              <a:buNone/>
            </a:pPr>
            <a:r>
              <a:rPr lang="en-US" sz="2000" dirty="0"/>
              <a:t>[0000:2b:00.1]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</a:t>
            </a:r>
            <a:r>
              <a:rPr lang="en-US" sz="2000" dirty="0" err="1"/>
              <a:t>pci_device</a:t>
            </a:r>
            <a:r>
              <a:rPr lang="en-US" sz="2000" dirty="0"/>
              <a:t>  0000:2a:00.0 </a:t>
            </a:r>
            <a:r>
              <a:rPr lang="en-US" sz="2000" dirty="0" err="1"/>
              <a:t>vf</a:t>
            </a:r>
            <a:r>
              <a:rPr lang="en-US" sz="2000" dirty="0"/>
              <a:t> 1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</a:t>
            </a:r>
            <a:r>
              <a:rPr lang="en-US" sz="2000" dirty="0" err="1"/>
              <a:t>pci_device</a:t>
            </a:r>
            <a:r>
              <a:rPr lang="en-US" sz="2000" dirty="0"/>
              <a:t>  0000:2b:00.0 </a:t>
            </a:r>
            <a:r>
              <a:rPr lang="en-US" sz="2000" dirty="0" err="1"/>
              <a:t>vf</a:t>
            </a:r>
            <a:r>
              <a:rPr lang="en-US" sz="2000" dirty="0"/>
              <a:t> 1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opae.io ls</a:t>
            </a:r>
          </a:p>
          <a:p>
            <a:pPr marL="0" indent="0">
              <a:buNone/>
            </a:pPr>
            <a:r>
              <a:rPr lang="en-US" sz="2000" dirty="0"/>
              <a:t>[0000:2b:00.3] (0x8086:0xbccf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[0000:2a:00.3] (0x8086:0xbccf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03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CDFD2-2A4A-1002-D784-2F4276FDC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AF4AAF-BD1A-AA80-4D1F-0637535E70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(3)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178826-1516-FADF-6063-5A2E0894CC6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237673"/>
            <a:ext cx="10625138" cy="5180544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[sse_team@spr02 /home/</a:t>
            </a:r>
            <a:r>
              <a:rPr lang="en-US" sz="2000" dirty="0" err="1"/>
              <a:t>sse_team</a:t>
            </a:r>
            <a:r>
              <a:rPr lang="en-US" sz="2000" dirty="0"/>
              <a:t>/</a:t>
            </a:r>
            <a:r>
              <a:rPr lang="en-US" sz="2000" dirty="0" err="1"/>
              <a:t>dgroen</a:t>
            </a:r>
            <a:r>
              <a:rPr lang="en-US" sz="2000" dirty="0"/>
              <a:t>]$ </a:t>
            </a:r>
            <a:r>
              <a:rPr lang="en-US" sz="2000" dirty="0" err="1"/>
              <a:t>sudo</a:t>
            </a:r>
            <a:r>
              <a:rPr lang="en-US" sz="2000" dirty="0"/>
              <a:t> opae.io </a:t>
            </a:r>
            <a:r>
              <a:rPr lang="en-US" sz="2000" dirty="0" err="1"/>
              <a:t>init</a:t>
            </a:r>
            <a:r>
              <a:rPr lang="en-US" sz="2000" dirty="0"/>
              <a:t> -d 0000:2a:00.3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Unbinding (0x8086,0xbccf) at 0000:2a:00.3 from </a:t>
            </a:r>
            <a:r>
              <a:rPr lang="en-US" sz="2000" dirty="0" err="1"/>
              <a:t>dfl-pci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Binding (0x8086,0xbccf) at 0000:2a:00.3 to </a:t>
            </a:r>
            <a:r>
              <a:rPr lang="en-US" sz="2000" dirty="0" err="1"/>
              <a:t>vfio-pci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iommu</a:t>
            </a:r>
            <a:r>
              <a:rPr lang="en-US" sz="2000" dirty="0"/>
              <a:t> group for (0x8086,0xbccf) at 0000:2a:00.3 is 228</a:t>
            </a:r>
          </a:p>
          <a:p>
            <a:pPr marL="0" indent="0">
              <a:buNone/>
            </a:pPr>
            <a:r>
              <a:rPr lang="en-US" sz="2000" dirty="0"/>
              <a:t>Assigning /dev/</a:t>
            </a:r>
            <a:r>
              <a:rPr lang="en-US" sz="2000" dirty="0" err="1"/>
              <a:t>vfio</a:t>
            </a:r>
            <a:r>
              <a:rPr lang="en-US" sz="2000" dirty="0"/>
              <a:t>/228 to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Changing permissions for /dev/</a:t>
            </a:r>
            <a:r>
              <a:rPr lang="en-US" sz="2000" dirty="0" err="1"/>
              <a:t>vfio</a:t>
            </a:r>
            <a:r>
              <a:rPr lang="en-US" sz="2000" dirty="0"/>
              <a:t>/228 to </a:t>
            </a:r>
            <a:r>
              <a:rPr lang="en-US" sz="2000" dirty="0" err="1"/>
              <a:t>rw</a:t>
            </a:r>
            <a:r>
              <a:rPr lang="en-US" sz="2000" dirty="0"/>
              <a:t>-</a:t>
            </a:r>
            <a:r>
              <a:rPr lang="en-US" sz="2000" dirty="0" err="1"/>
              <a:t>rw</a:t>
            </a:r>
            <a:r>
              <a:rPr lang="en-US" sz="2000" dirty="0"/>
              <a:t>----</a:t>
            </a:r>
          </a:p>
          <a:p>
            <a:pPr marL="0" indent="0">
              <a:buNone/>
            </a:pPr>
            <a:r>
              <a:rPr lang="en-US" sz="2000" dirty="0"/>
              <a:t>[sse_team@spr02 /home/</a:t>
            </a:r>
            <a:r>
              <a:rPr lang="en-US" sz="2000" dirty="0" err="1"/>
              <a:t>sse_team</a:t>
            </a:r>
            <a:r>
              <a:rPr lang="en-US" sz="2000" dirty="0"/>
              <a:t>/</a:t>
            </a:r>
            <a:r>
              <a:rPr lang="en-US" sz="2000" dirty="0" err="1"/>
              <a:t>dgroen</a:t>
            </a:r>
            <a:r>
              <a:rPr lang="en-US" sz="2000" dirty="0"/>
              <a:t>]$ </a:t>
            </a:r>
            <a:r>
              <a:rPr lang="en-US" sz="2000" dirty="0" err="1"/>
              <a:t>sudo</a:t>
            </a:r>
            <a:r>
              <a:rPr lang="en-US" sz="2000" dirty="0"/>
              <a:t> opae.io </a:t>
            </a:r>
            <a:r>
              <a:rPr lang="en-US" sz="2000" dirty="0" err="1"/>
              <a:t>init</a:t>
            </a:r>
            <a:r>
              <a:rPr lang="en-US" sz="2000" dirty="0"/>
              <a:t> -d 0000:2b:00.3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Unbinding (0x8086,0xbccf) at 0000:2b:00.3 from </a:t>
            </a:r>
            <a:r>
              <a:rPr lang="en-US" sz="2000" dirty="0" err="1"/>
              <a:t>dfl-pci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Binding (0x8086,0xbccf) at 0000:2b:00.3 to </a:t>
            </a:r>
            <a:r>
              <a:rPr lang="en-US" sz="2000" dirty="0" err="1"/>
              <a:t>vfio-pci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iommu</a:t>
            </a:r>
            <a:r>
              <a:rPr lang="en-US" sz="2000" dirty="0"/>
              <a:t> group for (0x8086,0xbccf) at 0000:2b:00.3 is 229</a:t>
            </a:r>
          </a:p>
          <a:p>
            <a:pPr marL="0" indent="0">
              <a:buNone/>
            </a:pPr>
            <a:r>
              <a:rPr lang="en-US" sz="2000" dirty="0"/>
              <a:t>Assigning /dev/</a:t>
            </a:r>
            <a:r>
              <a:rPr lang="en-US" sz="2000" dirty="0" err="1"/>
              <a:t>vfio</a:t>
            </a:r>
            <a:r>
              <a:rPr lang="en-US" sz="2000" dirty="0"/>
              <a:t>/229 to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Changing permissions for /dev/</a:t>
            </a:r>
            <a:r>
              <a:rPr lang="en-US" sz="2000" dirty="0" err="1"/>
              <a:t>vfio</a:t>
            </a:r>
            <a:r>
              <a:rPr lang="en-US" sz="2000" dirty="0"/>
              <a:t>/229 to </a:t>
            </a:r>
            <a:r>
              <a:rPr lang="en-US" sz="2000" dirty="0" err="1"/>
              <a:t>rw</a:t>
            </a:r>
            <a:r>
              <a:rPr lang="en-US" sz="2000" dirty="0"/>
              <a:t>-</a:t>
            </a:r>
            <a:r>
              <a:rPr lang="en-US" sz="2000" dirty="0" err="1"/>
              <a:t>rw</a:t>
            </a:r>
            <a:r>
              <a:rPr lang="en-US" sz="2000" dirty="0"/>
              <a:t>----</a:t>
            </a:r>
          </a:p>
          <a:p>
            <a:pPr marL="0" indent="0">
              <a:buNone/>
            </a:pPr>
            <a:r>
              <a:rPr lang="en-US" sz="2000" dirty="0"/>
              <a:t>[sse_team@spr02 /home/</a:t>
            </a:r>
            <a:r>
              <a:rPr lang="en-US" sz="2000" dirty="0" err="1"/>
              <a:t>sse_team</a:t>
            </a:r>
            <a:r>
              <a:rPr lang="en-US" sz="2000" dirty="0"/>
              <a:t>/</a:t>
            </a:r>
            <a:r>
              <a:rPr lang="en-US" sz="2000" dirty="0" err="1"/>
              <a:t>dgroen</a:t>
            </a:r>
            <a:r>
              <a:rPr lang="en-US" sz="2000" dirty="0"/>
              <a:t>]$  </a:t>
            </a:r>
            <a:r>
              <a:rPr lang="en-US" sz="2000" dirty="0" err="1"/>
              <a:t>sudo</a:t>
            </a:r>
            <a:r>
              <a:rPr lang="en-US" sz="2000" dirty="0"/>
              <a:t> opae.io ls</a:t>
            </a:r>
          </a:p>
          <a:p>
            <a:pPr marL="0" indent="0">
              <a:buNone/>
            </a:pPr>
            <a:r>
              <a:rPr lang="en-US" sz="2000" dirty="0"/>
              <a:t>[0000:2b:00.3] (0x8086:0xbccf 0x8086:0x0001) Intel Acceleration JTAG PCI Development Kit (Driver: </a:t>
            </a:r>
            <a:r>
              <a:rPr lang="en-US" sz="2000" dirty="0" err="1"/>
              <a:t>vfio-pci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[0000:2a:00.3] (0x8086:0xbccf 0x8086:0x0001) Intel Acceleration JTAG PCI Development Kit (Driver: </a:t>
            </a:r>
            <a:r>
              <a:rPr lang="en-US" sz="2000" dirty="0" err="1"/>
              <a:t>vfio-pci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4930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71BF-9ECE-F799-2C44-B1447829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BA070C-D419-ECB1-B305-D2EFD6DEC6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(4)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D53F2A-53FB-7317-6EA4-DFB39881B44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lspci</a:t>
            </a:r>
            <a:r>
              <a:rPr lang="en-US" sz="2000" dirty="0"/>
              <a:t> | grep accel</a:t>
            </a:r>
          </a:p>
          <a:p>
            <a:pPr marL="0" indent="0">
              <a:buNone/>
            </a:pPr>
            <a:r>
              <a:rPr lang="en-US" sz="2000" dirty="0"/>
              <a:t>2a:00.0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2a:00.1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2a:00.2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2a:00.3 Processing accelerators: Intel Corporation Device </a:t>
            </a:r>
            <a:r>
              <a:rPr lang="en-US" sz="2000" dirty="0" err="1"/>
              <a:t>bccf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2b:00.0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2b:00.1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2b:00.2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2b:00.3 Processing accelerators: Intel Corporation Device </a:t>
            </a:r>
            <a:r>
              <a:rPr lang="en-US" sz="2000" dirty="0" err="1"/>
              <a:t>bccf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99516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</TotalTime>
  <Words>2158</Words>
  <Application>Microsoft Office PowerPoint</Application>
  <PresentationFormat>Widescreen</PresentationFormat>
  <Paragraphs>186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Calibri</vt:lpstr>
      <vt:lpstr>GT Walsheim Regular</vt:lpstr>
      <vt:lpstr>Office Theme</vt:lpstr>
      <vt:lpstr> OFS ASP – Multi-Link Support Douglas Groen</vt:lpstr>
      <vt:lpstr>Overview</vt:lpstr>
      <vt:lpstr>Goals for ASP Support</vt:lpstr>
      <vt:lpstr>High-Level ASP Changes</vt:lpstr>
      <vt:lpstr>Changes to AXI/AVMM Conversion (PIM Modules)</vt:lpstr>
      <vt:lpstr>Changes to VTP Connections</vt:lpstr>
      <vt:lpstr>Changes to DMA Controller</vt:lpstr>
      <vt:lpstr>Changes to USM Channels</vt:lpstr>
      <vt:lpstr>Minimum Regression Examples</vt:lpstr>
      <vt:lpstr>Resource Utilization of 2nd Link Modules</vt:lpstr>
      <vt:lpstr>Things to Consider</vt:lpstr>
      <vt:lpstr>In-System Setup (1)</vt:lpstr>
      <vt:lpstr>In-System Setup (2)</vt:lpstr>
      <vt:lpstr>In-System Setup (3)</vt:lpstr>
      <vt:lpstr>In-System Setup 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Groen, Douglas</dc:creator>
  <cp:lastModifiedBy>Groen, Douglas</cp:lastModifiedBy>
  <cp:revision>19</cp:revision>
  <dcterms:created xsi:type="dcterms:W3CDTF">2025-01-29T23:39:47Z</dcterms:created>
  <dcterms:modified xsi:type="dcterms:W3CDTF">2025-01-31T18:36:06Z</dcterms:modified>
</cp:coreProperties>
</file>